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Paper best (reported)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GoEmotions</c:v>
                </c:pt>
                <c:pt idx="1">
                  <c:v>Friends</c:v>
                </c:pt>
                <c:pt idx="2">
                  <c:v>TEC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0.737</c:v>
                </c:pt>
                <c:pt idx="1">
                  <c:v>0.535</c:v>
                </c:pt>
                <c:pt idx="2">
                  <c:v>0.436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Paper HGNN (our replication)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GoEmotions</c:v>
                </c:pt>
                <c:pt idx="1">
                  <c:v>Friends</c:v>
                </c:pt>
                <c:pt idx="2">
                  <c:v>TEC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0.666</c:v>
                </c:pt>
                <c:pt idx="1">
                  <c:v>0.635</c:v>
                </c:pt>
                <c:pt idx="2">
                  <c:v>0.405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Fine-tuned RoBERTa (LoRA)</c:v>
                </c:pt>
              </c:strCache>
            </c:strRef>
          </c:tx>
          <c:spPr>
            <a:solidFill>
              <a:srgbClr val="8C8C8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GoEmotions</c:v>
                </c:pt>
                <c:pt idx="1">
                  <c:v>Friends</c:v>
                </c:pt>
                <c:pt idx="2">
                  <c:v>TEC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0.771</c:v>
                </c:pt>
                <c:pt idx="1">
                  <c:v>0.713</c:v>
                </c:pt>
                <c:pt idx="2">
                  <c:v>0.546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v1 DA-HGNN-F (ours)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GoEmotions</c:v>
                </c:pt>
                <c:pt idx="1">
                  <c:v>Friends</c:v>
                </c:pt>
                <c:pt idx="2">
                  <c:v>TEC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0.788</c:v>
                </c:pt>
                <c:pt idx="1">
                  <c:v>0.719</c:v>
                </c:pt>
                <c:pt idx="2">
                  <c:v>0.517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v2 DA-HGNN-E (ours)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GoEmotions</c:v>
                </c:pt>
                <c:pt idx="1">
                  <c:v>Friends</c:v>
                </c:pt>
                <c:pt idx="2">
                  <c:v>TEC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0.801</c:v>
                </c:pt>
                <c:pt idx="1">
                  <c:v>0.732</c:v>
                </c:pt>
                <c:pt idx="2">
                  <c:v>0.552</c:v>
                </c:pt>
              </c:numCache>
            </c:numRef>
          </c:val>
        </c:ser>
        <c:dLbls>
          <c:numFmt formatCode=".00" sourceLinked="0"/>
          <c:txPr>
            <a:bodyPr/>
            <a:lstStyle/>
            <a:p>
              <a:pPr>
                <a:defRPr sz="900">
                  <a:solidFill>
                    <a:srgbClr val="4040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40404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</a:defRPr>
            </a:pPr>
          </a:p>
        </c:txPr>
        <c:crossAx val="-2068027336"/>
        <c:crosses val="autoZero"/>
        <c:majorUnit val="0.1"/>
      </c:valAx>
    </c:plotArea>
    <c:legend>
      <c:legendPos val="t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40404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3: we replicated the base paper, found why its best results are unstable, and built an improved model that beats it on all three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works surveyed in total (full table in the review record). The learning-from-disagreement literature says disagreement carries information; Lv et al. 2021 motivated our strict evaluation protocol. Disagreement: GoEmotions 27%, Friends 28%, TEC 33%.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except the paper's headline HGNN-Min result reproduced. Each failure points to a research gap G1-G7 that the new model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fix is backed by evidence from the data. GoEmotions subset reconstructed to within 2% of the paper (31,621 vs 32,291); Friends identical; TEC 21,051 vs 21,047. Every baseline gets the same 500 labels (1.6-4.3% of each dataset).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layer is the paper's own Eq. 1 and Eq. 4-5; what changes is the input features, the training signal and the decision layer. Every design choice was made on dev data, never on the test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Compared on the same test split, v2 beats the paper's replicated HGNN by +13.6 / +9.7 / +14.8 points. Honest limits: label-free we only match the LM average; inside v2 the graph student contributes within +/-0.3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spc="200">
                <a:solidFill>
                  <a:srgbClr val="000000"/>
                </a:solidFill>
                <a:latin typeface="Calibri"/>
              </a:rPr>
              <a:t>CAPSTONE PROJECT — PHASE 3</a:t>
            </a:r>
          </a:p>
          <a:p>
            <a:pPr algn="l"/>
            <a:r>
              <a:rPr sz="1400" b="0" i="0" spc="200">
                <a:solidFill>
                  <a:srgbClr val="000000"/>
                </a:solidFill>
                <a:latin typeface="Calibri"/>
              </a:rPr>
              <a:t/>
            </a:r>
          </a:p>
          <a:p>
            <a:pPr algn="l"/>
            <a:r>
              <a:rPr sz="1400" b="0" i="0" spc="200">
                <a:solidFill>
                  <a:srgbClr val="000000"/>
                </a:solidFill>
                <a:latin typeface="Calibri"/>
              </a:rPr>
              <a:t>PSID - 181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2331720"/>
            <a:ext cx="10908792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640080" y="26060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Cambria"/>
              </a:rPr>
              <a:t>Advancing Emotion Recognition in Social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3756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404040"/>
                </a:solidFill>
                <a:latin typeface="Calibri"/>
              </a:rPr>
              <a:t>A Novel Integration of Heterogeneous Neural Networks with Fine-Tuned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E6E"/>
                </a:solidFill>
                <a:latin typeface="Calibri"/>
              </a:rPr>
              <a:t>Problem Identification &amp; Literature Survey  •  Datasets &amp; Preprocessing  •  Algorithmic Design &amp;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 A KAUSHIK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CH.SC.U4CSE24123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41908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mbria"/>
              </a:rPr>
              <a:t>Problem Identification &amp;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E6E6E"/>
                </a:solidFill>
                <a:latin typeface="Calibri"/>
              </a:rPr>
              <a:t>Two fine-tuned language models disagree on 27–33% of posts, and on those posts each is right only 14–46% of the time — which label do we trust?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3813048"/>
        </p:xfrm>
        <a:graphic>
          <a:graphicData uri="http://schemas.openxmlformats.org/drawingml/2006/table">
            <a:tbl>
              <a:tblPr/>
              <a:tblGrid>
                <a:gridCol w="3611880"/>
                <a:gridCol w="3383280"/>
                <a:gridCol w="391363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Area — key works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What it offers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Gap for our problem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00000"/>
                          </a:solidFill>
                          <a:latin typeface="Calibri"/>
                        </a:rPr>
                        <a:t>Fine-tuned emotion LMs</a:t>
                      </a:r>
                    </a:p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Hartmann et al. (2023); Liu et al. (2019) RoBERTa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Strong off-the-shelf 7-class emotion models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Black boxes that disagree with each other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00000"/>
                          </a:solidFill>
                          <a:latin typeface="Calibri"/>
                        </a:rPr>
                        <a:t>Learning from disagreement</a:t>
                      </a:r>
                    </a:p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Uma et al. (2021); Fornaciari et al. (2021); Plank (2022)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Disagreement is signal; soft-label training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Studied for human annotators, never LM vs LM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00000"/>
                          </a:solidFill>
                          <a:latin typeface="Calibri"/>
                        </a:rPr>
                        <a:t>Weak supervision &amp; distillation</a:t>
                      </a:r>
                    </a:p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Ratner et al. (2017); Hinton et al. (2015); Xie et al. (2020)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Learning from noisy / soft labels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The student copies the teacher's bias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00000"/>
                          </a:solidFill>
                          <a:latin typeface="Calibri"/>
                        </a:rPr>
                        <a:t>Graphs for text</a:t>
                      </a:r>
                    </a:p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TextRank (2004); TextGCN (2019); BertGCN (2021); HAN (2019)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Relational context; LM features inside GNNs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Sparse phrase graphs; attention unused with one relation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00000"/>
                          </a:solidFill>
                          <a:latin typeface="Calibri"/>
                        </a:rPr>
                        <a:t>Benchmarking &amp; calibration</a:t>
                      </a:r>
                    </a:p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Lv et al. (2021); Huang et al. (2021); Guo et al. (2017)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Simple, calibrated baselines rival GNNs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Many HGNN gains vanish under fair tuning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00000"/>
                          </a:solidFill>
                          <a:latin typeface="Calibri"/>
                        </a:rPr>
                        <a:t>Recent LLM work &amp; PEFT</a:t>
                      </a:r>
                    </a:p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Dong et al. (2026) multi-agent LLMs; Hu et al. (2022) LoRA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Explicit conflict resolution; cheap fine-tuning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70B-scale models; still need labels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70448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Calibri"/>
              </a:rPr>
              <a:t>Example (TEC):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“Another early morning tomorrow and a long drive home.”  DistilRoBERTa → neutral, RoBERTa-large → fear, human → joy. Our model → joy.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41908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mbria"/>
              </a:rPr>
              <a:t>Gaps in the Base Paper — Replication (Phase 3A)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1">
                <a:solidFill>
                  <a:srgbClr val="000000"/>
                </a:solidFill>
                <a:latin typeface="Calibri"/>
              </a:rPr>
              <a:t>Base paper:</a:t>
            </a:r>
            <a:r>
              <a:rPr sz="1300" b="0" i="1">
                <a:solidFill>
                  <a:srgbClr val="404040"/>
                </a:solidFill>
                <a:latin typeface="Calibri"/>
              </a:rPr>
              <a:t> Maazallahi, Asadpour &amp; Bazmi (2025) — HGNN re-implemented; all 180 grid configurations trained on 3 datasets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3703320"/>
        </p:xfrm>
        <a:graphic>
          <a:graphicData uri="http://schemas.openxmlformats.org/drawingml/2006/table">
            <a:tbl>
              <a:tblPr/>
              <a:tblGrid>
                <a:gridCol w="3154680"/>
                <a:gridCol w="2103120"/>
                <a:gridCol w="2468880"/>
                <a:gridCol w="318211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Our replication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Gap it reveals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Agreement split; LM baselines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Tables 4–6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within ±0.02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Reproduced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HGNN-Max, GoEmotions (agreed / disagreed / total)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.720 / .530 / .671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.713 / .536 / .665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Reproduced — but in one run only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HGNN-Max over 10 seeds (disagreed accuracy)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not reported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0.344 ± 0.228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G3  Train/test mismatch: zero features never seen in training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HGNN-Min, paper's best (disagreed accuracy)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.677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.397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Not reproducible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Attention better than mean aggregation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.56 vs .50 F1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+0.010 (p = 0.70)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G7  Sparse graph: one relation per tweet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Rule "models disagree → neutral" (no training)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not reported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.759 / .740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G1  Disagreement used only as a filter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Tweet features; model selection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7 DistilRoBERTa scores; best-of-grid on test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agreed labels only 43–72% correct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04040"/>
                          </a:solidFill>
                          <a:latin typeface="Calibri"/>
                        </a:rPr>
                        <a:t>G2 thin features · G4 noisy labels · G5 weak protocol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669280"/>
            <a:ext cx="109087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Calibri"/>
              </a:rPr>
              <a:t>Root cause: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disagreed posts are a different population (76% neutral on GoEmotions; TEC has no neutral at all — G6), and the paper's best results depend on the random seed.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41908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mbria"/>
              </a:rPr>
              <a:t>Handling Datasets and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E6E6E"/>
                </a:solidFill>
                <a:latin typeface="Calibri"/>
              </a:rPr>
              <a:t>Pipeline: raw text → unescape → remove URLs / @mentions / placeholders → strip # → normalise → LM tokenizer | TextRank phrases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08791" cy="1463040"/>
        </p:xfrm>
        <a:graphic>
          <a:graphicData uri="http://schemas.openxmlformats.org/drawingml/2006/table">
            <a:tbl>
              <a:tblPr/>
              <a:tblGrid>
                <a:gridCol w="2103120"/>
                <a:gridCol w="1874519"/>
                <a:gridCol w="1188720"/>
                <a:gridCol w="1783080"/>
                <a:gridCol w="395935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Posts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Classes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GoEmotions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Reddit comments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31,621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Main; inside the LMs' training data (in-domain)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Friends (EmotionLines)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TV dialogue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11,731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Conversational; identical to the paper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TEC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Tweets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21,051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6 (no neutral)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Calibri"/>
                        </a:rPr>
                        <a:t>Unseen by every model — the clean test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337560"/>
            <a:ext cx="5221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Inconsistencies →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21608"/>
            <a:ext cx="522122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1" i="0">
                <a:solidFill>
                  <a:srgbClr val="000000"/>
                </a:solidFill>
                <a:latin typeface="Calibri"/>
              </a:rPr>
              <a:t>GoEmotions: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rater-level, multi-label (211k ratings) → aggregate; keep one Ekman label (31,621 ≈ paper)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1" i="0">
                <a:solidFill>
                  <a:srgbClr val="000000"/>
                </a:solidFill>
                <a:latin typeface="Calibri"/>
              </a:rPr>
              <a:t>Friends: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“non-neutral” class, Windows-1252 text → removed, re-decoded (11,731 = paper)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1" i="0">
                <a:solidFill>
                  <a:srgbClr val="000000"/>
                </a:solidFill>
                <a:latin typeface="Calibri"/>
              </a:rPr>
              <a:t>TEC: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no neutral, yet LMs predict it 19–27% → label-space alignment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1" i="0">
                <a:solidFill>
                  <a:srgbClr val="000000"/>
                </a:solidFill>
                <a:latin typeface="Calibri"/>
              </a:rPr>
              <a:t>All: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neutral 56–70%, leakage risk → weighted + macro metrics; TEC as clean test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3337560"/>
            <a:ext cx="0" cy="219456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27648" y="3337560"/>
            <a:ext cx="5221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Features Extracted (paper → ours)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3721608"/>
            <a:ext cx="522122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1" i="0">
                <a:solidFill>
                  <a:srgbClr val="000000"/>
                </a:solidFill>
                <a:latin typeface="Calibri"/>
              </a:rPr>
              <a:t>Tweet: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7 DistilRoBERTa scores → both LMs' scores + disagreement descriptors + sentence embeddings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1" i="0">
                <a:solidFill>
                  <a:srgbClr val="000000"/>
                </a:solidFill>
                <a:latin typeface="Calibri"/>
              </a:rPr>
              <a:t>Phrase: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TextRank mean / std → + contextual embedding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1" i="0">
                <a:solidFill>
                  <a:srgbClr val="000000"/>
                </a:solidFill>
                <a:latin typeface="Calibri"/>
              </a:rPr>
              <a:t>Edges: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tweet–phrase–emotion + links to 10 semantic nearest neighbours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1" i="0">
                <a:solidFill>
                  <a:srgbClr val="000000"/>
                </a:solidFill>
                <a:latin typeface="Calibri"/>
              </a:rPr>
              <a:t>Protocol: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20% labelled pool / 80% untouched test; 500 gold labels; 5 seeds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  <a:latin typeface="Calibri"/>
              </a:rPr>
              <a:t>Every baseline receives the same 500 gold labels (1.6–4.3% of each dataset); gold labels never touch the agreement split.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41908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mbria"/>
              </a:rPr>
              <a:t>Algorithmic Design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E6E6E"/>
                </a:solidFill>
                <a:latin typeface="Calibri"/>
              </a:rPr>
              <a:t>v1 DA-HGNN-F: disagreement-aware GNN + calibrated LM teacher  →  v2 DA-HGNN-E: equal-vote ensemble with fine-tuned 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23957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764792"/>
            <a:ext cx="21762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1 · Two LM annotators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DistilRoBERTa + RoBERTa-large: scores, embeddings, agreement split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99816" y="2139696"/>
            <a:ext cx="314553" cy="256032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8377" y="1691640"/>
            <a:ext cx="23957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88105" y="1764792"/>
            <a:ext cx="21762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2 · Heterogeneous graph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Tweet–Phrase–Emotion (paper) + semantic Tweet–Tweet links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38113" y="2139696"/>
            <a:ext cx="314553" cy="256032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6675" y="1691640"/>
            <a:ext cx="23957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6403" y="1764792"/>
            <a:ext cx="21762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3 · DA-HGNN student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Paper's Eq. 1 + semantic attention; soft distillation + 500 gold labels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76411" y="2139696"/>
            <a:ext cx="314553" cy="256032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54972" y="1691640"/>
            <a:ext cx="239572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64700" y="1764792"/>
            <a:ext cx="21762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4 · Decision layer</a:t>
            </a:r>
          </a:p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Calibrated LM teacher ⊕ student; label-space alignment; v2 adds fine-tuned 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5221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Evidence Behind the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8"/>
            <a:ext cx="52212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1" i="0">
                <a:solidFill>
                  <a:srgbClr val="000000"/>
                </a:solidFill>
                <a:latin typeface="Calibri"/>
              </a:rPr>
              <a:t>Calibrating the LM teacher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on the few labels: −3.6 points if removed (largest effect)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0" i="0">
                <a:solidFill>
                  <a:srgbClr val="404040"/>
                </a:solidFill>
                <a:latin typeface="Calibri"/>
              </a:rPr>
              <a:t>Multi-view features −1.6; LM embeddings −1.4; graph student −1.2 (TEC −3.2)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0" i="0">
                <a:solidFill>
                  <a:srgbClr val="404040"/>
                </a:solidFill>
                <a:latin typeface="Calibri"/>
              </a:rPr>
              <a:t>Rejected in 6 prototyping rounds: label-free student (= LM average), zero-feature option (0.34 ± 0.23), gold-label propagation (−7.6)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0" i="0">
                <a:solidFill>
                  <a:srgbClr val="404040"/>
                </a:solidFill>
                <a:latin typeface="Calibri"/>
              </a:rPr>
              <a:t>Best when labels are scarce: at 50 labels +5.9 / +2.0 / +2.9 over a supervised model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8" y="3154680"/>
            <a:ext cx="0" cy="228600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327648" y="3154680"/>
            <a:ext cx="5221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Room for Improvement (Phase 3C)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538728"/>
            <a:ext cx="52212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0" i="0">
                <a:solidFill>
                  <a:srgbClr val="404040"/>
                </a:solidFill>
                <a:latin typeface="Calibri"/>
              </a:rPr>
              <a:t>Candidates scored on held-out pool data only; selection rule fixed in advance; test split used once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0" i="0">
                <a:solidFill>
                  <a:srgbClr val="404040"/>
                </a:solidFill>
                <a:latin typeface="Calibri"/>
              </a:rPr>
              <a:t>Added equal votes: supervised MLP + LoRA-fine-tuned RoBERTa / DistilRoBERTa → </a:t>
            </a:r>
            <a:r>
              <a:rPr sz="1250" b="1" i="0">
                <a:solidFill>
                  <a:srgbClr val="000000"/>
                </a:solidFill>
                <a:latin typeface="Calibri"/>
              </a:rPr>
              <a:t>.694 vs .677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(v1)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0" i="0">
                <a:solidFill>
                  <a:srgbClr val="404040"/>
                </a:solidFill>
                <a:latin typeface="Calibri"/>
              </a:rPr>
              <a:t>No selection overfitting: 0.694 held-out vs 0.692 test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sz="1250" b="0" i="0">
                <a:solidFill>
                  <a:srgbClr val="404040"/>
                </a:solidFill>
                <a:latin typeface="Calibri"/>
              </a:rPr>
              <a:t>Self-training promising (+0.3 to +1.2); oracle headroom 0.82 → learned combiner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  <a:latin typeface="Calibri"/>
              </a:rPr>
              <a:t>Every design choice was made on dev / held-out data — the test split was used only for the final numbers.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41908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mbria"/>
              </a:rPr>
              <a:t>Results — Beating the Base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E6E6E"/>
                </a:solidFill>
                <a:latin typeface="Calibri"/>
              </a:rPr>
              <a:t>Untouched 80% test split · 500 gold labels · mean of 5 seeds · total accuracy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66751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35240" y="1645920"/>
            <a:ext cx="3913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Key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029968"/>
            <a:ext cx="3913632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 b="1" i="0">
                <a:solidFill>
                  <a:srgbClr val="000000"/>
                </a:solidFill>
                <a:latin typeface="Calibri"/>
              </a:rPr>
              <a:t>+6.4 / +19.7 / +11.6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accuracy points over the paper's best (p &lt; 0.001)</a:t>
            </a:r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 b="0" i="0">
                <a:solidFill>
                  <a:srgbClr val="404040"/>
                </a:solidFill>
                <a:latin typeface="Calibri"/>
              </a:rPr>
              <a:t>v2 beats v1 on every dataset (p ≤ 0.002) and ties fine-tuned RoBERTa on TEC</a:t>
            </a:r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 b="0" i="0">
                <a:solidFill>
                  <a:srgbClr val="404040"/>
                </a:solidFill>
                <a:latin typeface="Calibri"/>
              </a:rPr>
              <a:t>Disagreed GoEmotions posts: </a:t>
            </a:r>
            <a:r>
              <a:rPr sz="1250" b="1" i="0">
                <a:solidFill>
                  <a:srgbClr val="000000"/>
                </a:solidFill>
                <a:latin typeface="Calibri"/>
              </a:rPr>
              <a:t>.765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 vs .356 for RoBERTa-large</a:t>
            </a:r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 b="0" i="0">
                <a:solidFill>
                  <a:srgbClr val="404040"/>
                </a:solidFill>
                <a:latin typeface="Calibri"/>
              </a:rPr>
              <a:t>Limits: needs ~500 labels; the graph helps most when labels are scarce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Calibri"/>
              </a:rPr>
              <a:t>Take-away: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treat disagreement between models as information, calibrate it with a few gold labels, and spend those labels where the models are weakest.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